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680672-BBCE-4CED-B4E6-FCC3DE7E4FCF}" v="2" dt="2026-06-11T13:05:08.4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Di Gregorio" userId="4405ada7-0b1d-4c20-8b0f-0716dc5b8190" providerId="ADAL" clId="{DC88F6DB-9B31-42C2-BC7B-2748F41A88E7}"/>
    <pc:docChg chg="custSel addSld modSld">
      <pc:chgData name="Luca Di Gregorio" userId="4405ada7-0b1d-4c20-8b0f-0716dc5b8190" providerId="ADAL" clId="{DC88F6DB-9B31-42C2-BC7B-2748F41A88E7}" dt="2026-06-11T13:08:08.771" v="77" actId="113"/>
      <pc:docMkLst>
        <pc:docMk/>
      </pc:docMkLst>
      <pc:sldChg chg="modSp add mod">
        <pc:chgData name="Luca Di Gregorio" userId="4405ada7-0b1d-4c20-8b0f-0716dc5b8190" providerId="ADAL" clId="{DC88F6DB-9B31-42C2-BC7B-2748F41A88E7}" dt="2026-06-11T12:48:58.983" v="35" actId="113"/>
        <pc:sldMkLst>
          <pc:docMk/>
          <pc:sldMk cId="4009078125" sldId="257"/>
        </pc:sldMkLst>
        <pc:spChg chg="mod">
          <ac:chgData name="Luca Di Gregorio" userId="4405ada7-0b1d-4c20-8b0f-0716dc5b8190" providerId="ADAL" clId="{DC88F6DB-9B31-42C2-BC7B-2748F41A88E7}" dt="2026-06-11T12:46:53.232" v="5" actId="20577"/>
          <ac:spMkLst>
            <pc:docMk/>
            <pc:sldMk cId="4009078125" sldId="257"/>
            <ac:spMk id="5" creationId="{E37B0B1E-4D08-4065-DCD6-82C9B0CF7897}"/>
          </ac:spMkLst>
        </pc:spChg>
        <pc:spChg chg="mod">
          <ac:chgData name="Luca Di Gregorio" userId="4405ada7-0b1d-4c20-8b0f-0716dc5b8190" providerId="ADAL" clId="{DC88F6DB-9B31-42C2-BC7B-2748F41A88E7}" dt="2026-06-11T12:48:58.983" v="35" actId="113"/>
          <ac:spMkLst>
            <pc:docMk/>
            <pc:sldMk cId="4009078125" sldId="257"/>
            <ac:spMk id="6" creationId="{CA698BEB-5CE1-F0B8-08C1-0981088B9B64}"/>
          </ac:spMkLst>
        </pc:spChg>
      </pc:sldChg>
      <pc:sldChg chg="modSp add mod">
        <pc:chgData name="Luca Di Gregorio" userId="4405ada7-0b1d-4c20-8b0f-0716dc5b8190" providerId="ADAL" clId="{DC88F6DB-9B31-42C2-BC7B-2748F41A88E7}" dt="2026-06-11T13:08:08.771" v="77" actId="113"/>
        <pc:sldMkLst>
          <pc:docMk/>
          <pc:sldMk cId="4212481028" sldId="258"/>
        </pc:sldMkLst>
        <pc:spChg chg="mod">
          <ac:chgData name="Luca Di Gregorio" userId="4405ada7-0b1d-4c20-8b0f-0716dc5b8190" providerId="ADAL" clId="{DC88F6DB-9B31-42C2-BC7B-2748F41A88E7}" dt="2026-06-11T13:05:21.966" v="41" actId="20577"/>
          <ac:spMkLst>
            <pc:docMk/>
            <pc:sldMk cId="4212481028" sldId="258"/>
            <ac:spMk id="5" creationId="{76CF505A-3CAB-0A8E-B475-5B3677F38FD8}"/>
          </ac:spMkLst>
        </pc:spChg>
        <pc:spChg chg="mod">
          <ac:chgData name="Luca Di Gregorio" userId="4405ada7-0b1d-4c20-8b0f-0716dc5b8190" providerId="ADAL" clId="{DC88F6DB-9B31-42C2-BC7B-2748F41A88E7}" dt="2026-06-11T13:08:08.771" v="77" actId="113"/>
          <ac:spMkLst>
            <pc:docMk/>
            <pc:sldMk cId="4212481028" sldId="258"/>
            <ac:spMk id="6" creationId="{F9D49EE4-59E8-1505-C967-CAA3D8118DE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F2650-BAC7-B776-DA05-50F6AB0F6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B0595C-3464-CF45-58F9-57859F3B9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7A682-C2EF-8F65-650E-4FFCD56C0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C1-16C9-47CD-A58B-644739BF003A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7AB4A-945C-C3A9-2040-8C132D382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C942D-8D50-79C4-67AA-BA63841D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F972-2584-45B2-8908-D0AABFFB69E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7020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40D72-5A73-FF05-6ACA-28812E6B4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26F35-D468-FCA6-1AAC-5E608A4CA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814DE-E25E-EB0D-82D7-0DC6069E1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C1-16C9-47CD-A58B-644739BF003A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A290C-BE33-F97D-8607-7CF30881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A4576-BD42-09AB-16B8-3E485D39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F972-2584-45B2-8908-D0AABFFB69E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393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9217D-A3FA-5799-A665-976726DE9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E052B-C5D9-967D-022F-D66F67F0D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46269-1BA8-F3AC-302A-2272E85F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C1-16C9-47CD-A58B-644739BF003A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C0EFB-7E94-A4C2-0C43-17B81185F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382F-7CD8-76F7-BB4E-2A626E0F1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F972-2584-45B2-8908-D0AABFFB69E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1292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AE04C-A846-2210-8FE0-30730FA2C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360F4-A63B-E7C1-9E3C-7870B7AE2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E135A-C0E2-1921-F376-41E36BE0F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A51BB-5D9B-EE12-134D-860C022E6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C1-16C9-47CD-A58B-644739BF003A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29F47-0817-BEA9-1F88-478012C54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032EDF-8D69-2387-8F1F-37323334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F972-2584-45B2-8908-D0AABFFB69E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9890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0921-706A-D360-685A-8222C8063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E80F4-EF7D-46A8-3F9D-2B7564351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88823-4462-7BCA-5653-422675C5D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649FB-38C7-AA8C-B3AB-D9FAEF86D6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E60103-9719-D5DB-7685-8C89BBF101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56A10-7742-2BCC-346C-3A9AF1AA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C1-16C9-47CD-A58B-644739BF003A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5903C7-7CCE-075C-6E2F-341F83BBB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B09D7C-40B7-0E91-674F-2DCDC99C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F972-2584-45B2-8908-D0AABFFB69E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8395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0128-EBDF-8EC4-0A6A-C871D6D94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4E502-549B-3CB6-AA56-D43343713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C1-16C9-47CD-A58B-644739BF003A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406CD9-B7A4-E91A-296A-D6C50108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83E24-4681-40F3-29E8-957D91A38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F972-2584-45B2-8908-D0AABFFB69E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3244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7BED6D-3124-B59C-AB5B-DBB42366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C1-16C9-47CD-A58B-644739BF003A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941C0-E832-22DD-1C87-D70FD1D4B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64D97-6358-495C-ECCC-0A332506B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F972-2584-45B2-8908-D0AABFFB69E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606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41F08-3485-279E-A9C4-52F9D68BD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36BD0-76C5-85E6-A1DB-21FCAEA3C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C9596-F4C6-F1A7-FA49-43C9D197F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52483-FE50-D0EF-798C-605F468E2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C1-16C9-47CD-A58B-644739BF003A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56393F-01A1-2282-160A-B5440608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29C60-7A2A-272A-E750-B85A9D277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F972-2584-45B2-8908-D0AABFFB69E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104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3DACC-4A6C-CEE2-A6F6-A2450B7D9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3C04B-6BDB-B450-70BC-DFEC8B2D3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71DB8-BA1B-BFBB-673F-1D6E1F4A4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8EE08-271E-6EEF-D7C6-E8A59B153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C1-16C9-47CD-A58B-644739BF003A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25BC0-A655-676C-0374-D44E92E60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DE2A2-EC34-0036-D630-0106A2B00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F972-2584-45B2-8908-D0AABFFB69E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3372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D13C-3A35-8F9D-6A42-7A441B7D0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19D03-2540-DC59-F2BA-643291CEF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ED0CB-746B-DEE6-5A51-FEE5F2019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C1-16C9-47CD-A58B-644739BF003A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9A03-82D8-11B5-2348-53579BB5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3B0E4-806D-BEE4-554E-F33413224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F972-2584-45B2-8908-D0AABFFB69E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448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275E06-CEFE-85A0-1404-2F01DC85B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628EE4-2365-21B9-B57E-A1C81679F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C3FD5-147B-FB81-17D0-07CFC0E15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69CC1-16C9-47CD-A58B-644739BF003A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4CE49-A084-315C-E708-A1E4580D1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BE483-719F-1D59-7688-0DA994BE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5F972-2584-45B2-8908-D0AABFFB69E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630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883806-0D32-E557-4023-6D931AC7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5DA27-49FB-6CE3-061A-B033DF25D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4BC6D-6DC7-5802-D750-8081AD530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69CC1-16C9-47CD-A58B-644739BF003A}" type="datetimeFigureOut">
              <a:rPr lang="es-ES" smtClean="0"/>
              <a:t>11/06/2026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AD564-BFB8-B717-4C66-04D449DAE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63A9F-CEBA-A276-F6D5-0B543BFEC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E5F972-2584-45B2-8908-D0AABFFB69E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1144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103737-0F6F-F3D3-759A-8A9CA4B98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Client Pain Points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E24A3-25E5-C995-716C-7C900F496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The client is operating an IBM-based application that integrates with multiple external data sources. To maintain these integrations, the client must perform </a:t>
            </a:r>
            <a:r>
              <a:rPr lang="en-US" b="1" dirty="0"/>
              <a:t>monthly manual activities </a:t>
            </a:r>
            <a:r>
              <a:rPr lang="en-US" dirty="0"/>
              <a:t>to create or update connectors.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Key </a:t>
            </a:r>
            <a:r>
              <a:rPr lang="es-ES" dirty="0" err="1"/>
              <a:t>challenges</a:t>
            </a:r>
            <a:r>
              <a:rPr lang="es-ES" dirty="0"/>
              <a:t> </a:t>
            </a:r>
            <a:r>
              <a:rPr lang="es-ES" dirty="0" err="1"/>
              <a:t>include</a:t>
            </a:r>
            <a:r>
              <a:rPr lang="es-ES" dirty="0"/>
              <a:t>:</a:t>
            </a:r>
          </a:p>
          <a:p>
            <a:pPr marL="0" indent="0">
              <a:buNone/>
            </a:pPr>
            <a:endParaRPr lang="es-ES" dirty="0"/>
          </a:p>
          <a:p>
            <a:r>
              <a:rPr lang="en-US" b="1" dirty="0"/>
              <a:t>High operational overhead</a:t>
            </a:r>
            <a:r>
              <a:rPr lang="en-US" dirty="0"/>
              <a:t>: Repetitive manual configuration of connectors each month consumes significant developer time.</a:t>
            </a:r>
          </a:p>
          <a:p>
            <a:r>
              <a:rPr lang="en-US" b="1" dirty="0"/>
              <a:t>Increased risk of errors</a:t>
            </a:r>
            <a:r>
              <a:rPr lang="en-US" dirty="0"/>
              <a:t>: Manual steps lead to misconfigurations, inconsistent setups, and potential data integration failures.</a:t>
            </a:r>
          </a:p>
          <a:p>
            <a:r>
              <a:rPr lang="en-US" b="1" dirty="0"/>
              <a:t>Limited scalability</a:t>
            </a:r>
            <a:r>
              <a:rPr lang="en-US" dirty="0"/>
              <a:t>: As the number of data sources grows, the effort required increases linearly, making the process inefficient and difficult to scale.</a:t>
            </a:r>
          </a:p>
          <a:p>
            <a:r>
              <a:rPr lang="en-US" b="1" dirty="0"/>
              <a:t>Delayed time-to-value</a:t>
            </a:r>
            <a:r>
              <a:rPr lang="en-US" dirty="0"/>
              <a:t>: Business users experience delays in accessing updated or newly integrated data due to the dependency on manual setup.</a:t>
            </a:r>
          </a:p>
          <a:p>
            <a:r>
              <a:rPr lang="en-US" b="1" dirty="0"/>
              <a:t>Resource dependency</a:t>
            </a:r>
            <a:r>
              <a:rPr lang="en-US" dirty="0"/>
              <a:t>: The process requires skilled technical resources, creating bottlenecks and reducing team productivity.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50245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BF8C1-B9FA-3824-056C-BABFEFDBE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7B0B1E-4D08-4065-DCD6-82C9B0CF7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Proposition of Using IBM Bob</a:t>
            </a:r>
            <a:endParaRPr lang="es-E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698BEB-5CE1-F0B8-08C1-0981088B9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IBM Bob addresses these challenges by introducing </a:t>
            </a:r>
            <a:r>
              <a:rPr lang="en-US" b="1" dirty="0"/>
              <a:t>AI-assisted automation </a:t>
            </a:r>
            <a:r>
              <a:rPr lang="en-US" dirty="0"/>
              <a:t>and </a:t>
            </a:r>
            <a:r>
              <a:rPr lang="en-US" b="1" dirty="0"/>
              <a:t>developer productivity enhancements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Key </a:t>
            </a:r>
            <a:r>
              <a:rPr lang="es-ES" dirty="0" err="1"/>
              <a:t>value</a:t>
            </a:r>
            <a:r>
              <a:rPr lang="es-ES" dirty="0"/>
              <a:t> </a:t>
            </a:r>
            <a:r>
              <a:rPr lang="es-ES" dirty="0" err="1"/>
              <a:t>delivered</a:t>
            </a:r>
            <a:r>
              <a:rPr lang="es-ES" dirty="0"/>
              <a:t>:</a:t>
            </a:r>
          </a:p>
          <a:p>
            <a:pPr marL="0" indent="0">
              <a:buNone/>
            </a:pPr>
            <a:endParaRPr lang="es-ES" dirty="0"/>
          </a:p>
          <a:p>
            <a:r>
              <a:rPr lang="en-US" b="1" dirty="0"/>
              <a:t>Automation of repetitive tasks</a:t>
            </a:r>
            <a:r>
              <a:rPr lang="en-US" dirty="0"/>
              <a:t>: BOB can generate connector configurations and code, reducing or eliminating manual monthly activities.</a:t>
            </a:r>
          </a:p>
          <a:p>
            <a:r>
              <a:rPr lang="en-US" b="1" dirty="0"/>
              <a:t>Improved developer efficiency</a:t>
            </a:r>
            <a:r>
              <a:rPr lang="en-US" dirty="0"/>
              <a:t>: Developers can use natural language prompts to quickly create, update, or replicate connectors across multiple data sources.</a:t>
            </a:r>
          </a:p>
          <a:p>
            <a:r>
              <a:rPr lang="en-US" b="1" dirty="0"/>
              <a:t>Consistency and accuracy</a:t>
            </a:r>
            <a:r>
              <a:rPr lang="en-US" dirty="0"/>
              <a:t>: AI-generated outputs reduce human error and ensure standardized connector configurations.</a:t>
            </a:r>
          </a:p>
          <a:p>
            <a:r>
              <a:rPr lang="en-US" b="1" dirty="0"/>
              <a:t>Faster onboarding of new data sources</a:t>
            </a:r>
            <a:r>
              <a:rPr lang="en-US" dirty="0"/>
              <a:t>: BOB accelerates integration development, enabling quicker response to business needs.</a:t>
            </a:r>
          </a:p>
          <a:p>
            <a:r>
              <a:rPr lang="en-US" b="1" dirty="0"/>
              <a:t>Scalability</a:t>
            </a:r>
            <a:r>
              <a:rPr lang="en-US" dirty="0"/>
              <a:t>: The solution can easily scale as new data sources are added without proportional increase in effort.</a:t>
            </a:r>
          </a:p>
          <a:p>
            <a:r>
              <a:rPr lang="en-US" b="1" dirty="0"/>
              <a:t>Reduced operational cost</a:t>
            </a:r>
            <a:r>
              <a:rPr lang="en-US" dirty="0"/>
              <a:t>: Less manual work translates into lower maintenance costs and better utilization of technical resources.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078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630A-21FE-238B-BC2F-832AB2E9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CF505A-3CAB-0A8E-B475-5B3677F3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for IBM Bob</a:t>
            </a:r>
            <a:endParaRPr lang="es-E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D49EE4-59E8-1505-C967-CAA3D8118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IBM Bob can be applied across multiple stages of the development and integration lifecycle, particularly in scenarios involving repetitive tasks, integration complexity, and the need for rapid delivery.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r>
              <a:rPr lang="en-US" b="1" dirty="0"/>
              <a:t>Automated</a:t>
            </a:r>
            <a:r>
              <a:rPr lang="en-US" dirty="0"/>
              <a:t> Connector Development</a:t>
            </a:r>
          </a:p>
          <a:p>
            <a:r>
              <a:rPr lang="en-US" dirty="0"/>
              <a:t>Connector </a:t>
            </a:r>
            <a:r>
              <a:rPr lang="en-US" b="1" dirty="0"/>
              <a:t>Maintenance</a:t>
            </a:r>
            <a:r>
              <a:rPr lang="en-US" dirty="0"/>
              <a:t> and </a:t>
            </a:r>
            <a:r>
              <a:rPr lang="en-US" b="1" dirty="0"/>
              <a:t>Updates</a:t>
            </a:r>
          </a:p>
          <a:p>
            <a:r>
              <a:rPr lang="en-US" dirty="0"/>
              <a:t>Code Generation for </a:t>
            </a:r>
            <a:r>
              <a:rPr lang="en-US" b="1" dirty="0"/>
              <a:t>Integration Logic</a:t>
            </a:r>
          </a:p>
          <a:p>
            <a:r>
              <a:rPr lang="en-US" dirty="0"/>
              <a:t>Documentation and </a:t>
            </a:r>
            <a:r>
              <a:rPr lang="en-US" b="1" dirty="0"/>
              <a:t>Knowledge Generation</a:t>
            </a:r>
          </a:p>
          <a:p>
            <a:r>
              <a:rPr lang="en-US" dirty="0"/>
              <a:t>Troubleshooting and </a:t>
            </a:r>
            <a:r>
              <a:rPr lang="en-US" b="1" dirty="0"/>
              <a:t>Debugging</a:t>
            </a:r>
            <a:r>
              <a:rPr lang="en-US" dirty="0"/>
              <a:t> Assistance</a:t>
            </a:r>
          </a:p>
          <a:p>
            <a:r>
              <a:rPr lang="es-ES" dirty="0"/>
              <a:t>Rapid </a:t>
            </a:r>
            <a:r>
              <a:rPr lang="es-ES" b="1" dirty="0" err="1"/>
              <a:t>Prototyping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Integrations</a:t>
            </a:r>
            <a:endParaRPr lang="es-ES" dirty="0"/>
          </a:p>
          <a:p>
            <a:r>
              <a:rPr lang="en-US" b="1" dirty="0"/>
              <a:t>Standardization</a:t>
            </a:r>
            <a:r>
              <a:rPr lang="en-US" dirty="0"/>
              <a:t> and Best Practices Enforcement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12481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347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Client Pain Points</vt:lpstr>
      <vt:lpstr>Value Proposition of Using IBM Bob</vt:lpstr>
      <vt:lpstr>Use Cases for IBM Bob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Di Gregorio</dc:creator>
  <cp:lastModifiedBy>Luca Di Gregorio</cp:lastModifiedBy>
  <cp:revision>1</cp:revision>
  <dcterms:created xsi:type="dcterms:W3CDTF">2026-06-11T12:41:37Z</dcterms:created>
  <dcterms:modified xsi:type="dcterms:W3CDTF">2026-06-11T13:08:13Z</dcterms:modified>
</cp:coreProperties>
</file>